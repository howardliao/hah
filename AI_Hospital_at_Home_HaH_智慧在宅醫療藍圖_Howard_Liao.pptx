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AI × 在宅醫療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EDCEB"/>
                </a:solidFill>
                <a:latin typeface="Aptos"/>
              </a:rPr>
              <a:t>Hospital at Home（HaH）智慧照護落地藍圖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把居家端零碎資訊，轉成「可預警、可分流、可協作、可追蹤」的臨床閉環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66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ECD"/>
                </a:solidFill>
                <a:latin typeface="Aptos"/>
              </a:rPr>
              <a:t>決策者簡報｜臨床 × AI × FHIR × 資安治理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5989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ptos"/>
              </a:rPr>
              <a:t>Howard Liao Ph.D.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2B46"/>
                </a:solidFill>
                <a:latin typeface="Aptos"/>
              </a:rPr>
              <a:t>01｜Executive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6E76"/>
                </a:solidFill>
                <a:latin typeface="Aptos"/>
              </a:rPr>
              <a:t>AI 的價值不是取代醫護，而是讓照護團隊更早看到、更快行動、更少文書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606040" cy="182880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1828800"/>
          </a:xfrm>
          <a:prstGeom prst="rect">
            <a:avLst/>
          </a:prstGeom>
          <a:solidFill>
            <a:srgbClr val="2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72184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32B46"/>
                </a:solidFill>
                <a:latin typeface="Aptos"/>
              </a:rPr>
              <a:t>可預警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56231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從單點量測 → 個人基線＋趨勢異常 → 早期介入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25880"/>
            <a:ext cx="2606040" cy="182880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25880"/>
            <a:ext cx="73152" cy="1828800"/>
          </a:xfrm>
          <a:prstGeom prst="rect">
            <a:avLst/>
          </a:prstGeom>
          <a:solidFill>
            <a:srgbClr val="2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472184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32B46"/>
                </a:solidFill>
                <a:latin typeface="Aptos"/>
              </a:rPr>
              <a:t>可分流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1856231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把有限的醫護訪視資源，優先給真正高風險個案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2606040" cy="182880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73152" cy="1828800"/>
          </a:xfrm>
          <a:prstGeom prst="rect">
            <a:avLst/>
          </a:prstGeom>
          <a:solidFill>
            <a:srgbClr val="49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472184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32B46"/>
                </a:solidFill>
                <a:latin typeface="Aptos"/>
              </a:rPr>
              <a:t>可協作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856231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AI Copilot 串起病人、家屬、護理師、個管師與醫師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325880"/>
            <a:ext cx="2606040" cy="182880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325880"/>
            <a:ext cx="73152" cy="1828800"/>
          </a:xfrm>
          <a:prstGeom prst="rect">
            <a:avLst/>
          </a:prstGeom>
          <a:solidFill>
            <a:srgbClr val="DE8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2288" y="1472184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32B46"/>
                </a:solidFill>
                <a:latin typeface="Aptos"/>
              </a:rPr>
              <a:t>可追蹤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1856231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FHIR／資料治理／稽核軌跡，形成可持續改善的照護閉環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32B46"/>
                </a:solidFill>
                <a:latin typeface="Aptos"/>
              </a:rPr>
              <a:t>核心目標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61188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8323A"/>
                </a:solidFill>
                <a:latin typeface="Aptos"/>
              </a:rPr>
              <a:t>讓病人更安全地留在家中，同時降低非必要急診、再住院與照護團隊行政負擔。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6E76"/>
                </a:solidFill>
                <a:latin typeface="Aptos"/>
              </a:rPr>
              <a:t>AI × Hospital at Home | Howard Liao Ph.D.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46E7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2B46"/>
                </a:solidFill>
                <a:latin typeface="Aptos"/>
              </a:rPr>
              <a:t>02｜AI 應用全景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6E76"/>
                </a:solidFill>
                <a:latin typeface="Aptos"/>
              </a:rPr>
              <a:t>四層架構：從感知資料，到臨床行動，再回饋治理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10332720" cy="96012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73152" cy="960120"/>
          </a:xfrm>
          <a:prstGeom prst="rect">
            <a:avLst/>
          </a:prstGeom>
          <a:solidFill>
            <a:srgbClr val="48A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380744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32B46"/>
                </a:solidFill>
                <a:latin typeface="Aptos"/>
              </a:rPr>
              <a:t>感知層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64792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健康訊號收集　｜　血壓／血氧／血糖／體溫／體重／ECG／睡眠／活動／跌倒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04872"/>
            <a:ext cx="10332720" cy="96012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404872"/>
            <a:ext cx="73152" cy="960120"/>
          </a:xfrm>
          <a:prstGeom prst="rect">
            <a:avLst/>
          </a:prstGeom>
          <a:solidFill>
            <a:srgbClr val="2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551176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32B46"/>
                </a:solidFill>
                <a:latin typeface="Aptos"/>
              </a:rPr>
              <a:t>判讀層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935224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異常與趨勢　｜　個人基線、異常偵測、風險預測、影像辨識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75304"/>
            <a:ext cx="10332720" cy="96012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575304"/>
            <a:ext cx="73152" cy="960120"/>
          </a:xfrm>
          <a:prstGeom prst="rect">
            <a:avLst/>
          </a:prstGeom>
          <a:solidFill>
            <a:srgbClr val="2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721608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32B46"/>
                </a:solidFill>
                <a:latin typeface="Aptos"/>
              </a:rPr>
              <a:t>決策層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105656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Clinical Decision Support　｜　分流、優先級排序、建議追蹤／訪視／轉診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45736"/>
            <a:ext cx="10332720" cy="96012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745736"/>
            <a:ext cx="73152" cy="960120"/>
          </a:xfrm>
          <a:prstGeom prst="rect">
            <a:avLst/>
          </a:prstGeom>
          <a:solidFill>
            <a:srgbClr val="49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8920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32B46"/>
                </a:solidFill>
                <a:latin typeface="Aptos"/>
              </a:rPr>
              <a:t>協作層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5276088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AI Copilot / Agent　｜　摘要、交班、衛教、任務派工、排程與照護紀錄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6E76"/>
                </a:solidFill>
                <a:latin typeface="Aptos"/>
              </a:rPr>
              <a:t>AI × Hospital at Home | Howard Liao Ph.D.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46E7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2B46"/>
                </a:solidFill>
                <a:latin typeface="Aptos"/>
              </a:rPr>
              <a:t>03｜真正的核心：資料 → 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6E76"/>
                </a:solidFill>
                <a:latin typeface="Aptos"/>
              </a:rPr>
              <a:t>居家端真正的挑戰不是沒有資料，而是資料沒有進入臨床工作流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645920" cy="192024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933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8B89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39572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2B46"/>
                </a:solidFill>
                <a:latin typeface="Aptos"/>
              </a:rPr>
              <a:t>量測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816352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8323A"/>
                </a:solidFill>
                <a:latin typeface="Aptos"/>
              </a:rPr>
              <a:t>裝置／語音／影像／病人回報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1448" y="1828800"/>
            <a:ext cx="1645920" cy="192024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19933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8B89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1176" y="239572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2B46"/>
                </a:solidFill>
                <a:latin typeface="Aptos"/>
              </a:rPr>
              <a:t>整合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2816352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8323A"/>
                </a:solidFill>
                <a:latin typeface="Aptos"/>
              </a:rPr>
              <a:t>EMR／HIS／FHIR／用藥／病史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828800"/>
            <a:ext cx="1645920" cy="192024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9933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8B89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39572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2B46"/>
                </a:solidFill>
                <a:latin typeface="Aptos"/>
              </a:rPr>
              <a:t>判讀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816352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8323A"/>
                </a:solidFill>
                <a:latin typeface="Aptos"/>
              </a:rPr>
              <a:t>基線＋趨勢＋風險模型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1828800"/>
            <a:ext cx="1645920" cy="192024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9933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8B89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39572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2B46"/>
                </a:solidFill>
                <a:latin typeface="Aptos"/>
              </a:rPr>
              <a:t>分流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816352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8323A"/>
                </a:solidFill>
                <a:latin typeface="Aptos"/>
              </a:rPr>
              <a:t>紅／黃／綠＋SLA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57032" y="1828800"/>
            <a:ext cx="1645920" cy="192024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19933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8B89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39572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2B46"/>
                </a:solidFill>
                <a:latin typeface="Aptos"/>
              </a:rPr>
              <a:t>處置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816352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8323A"/>
                </a:solidFill>
                <a:latin typeface="Aptos"/>
              </a:rPr>
              <a:t>電話／視訊／訪視／急診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5560" y="1828800"/>
            <a:ext cx="1645920" cy="192024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19933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8B89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05288" y="239572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2B46"/>
                </a:solidFill>
                <a:latin typeface="Aptos"/>
              </a:rPr>
              <a:t>追蹤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05288" y="2816352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8323A"/>
                </a:solidFill>
                <a:latin typeface="Aptos"/>
              </a:rPr>
              <a:t>結果回寫＋模型治理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32B46"/>
                </a:solidFill>
                <a:latin typeface="Aptos"/>
              </a:rPr>
              <a:t>FHIR 的價值：讓感測、病歷、用藥與照護紀錄形成「可用的共照資訊流」，而不是孤立 App／設備資料。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6E76"/>
                </a:solidFill>
                <a:latin typeface="Aptos"/>
              </a:rPr>
              <a:t>AI × Hospital at Home | Howard Liao Ph.D.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46E7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2B46"/>
                </a:solidFill>
                <a:latin typeface="Aptos"/>
              </a:rPr>
              <a:t>04｜五大高價值 AI 場景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337560" cy="178308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73152" cy="1783080"/>
          </a:xfrm>
          <a:prstGeom prst="rect">
            <a:avLst/>
          </a:prstGeom>
          <a:solidFill>
            <a:srgbClr val="2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47218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01  遠距生理監測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56231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323A"/>
                </a:solidFill>
                <a:latin typeface="Aptos"/>
              </a:rPr>
              <a:t>個人基線＋趨勢預警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37560" cy="178308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1783080"/>
          </a:xfrm>
          <a:prstGeom prst="rect">
            <a:avLst/>
          </a:prstGeom>
          <a:solidFill>
            <a:srgbClr val="2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47218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02  AI 分流／再住院預測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56231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323A"/>
                </a:solidFill>
                <a:latin typeface="Aptos"/>
              </a:rPr>
              <a:t>每天排出「誰最需要先處理」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325880"/>
            <a:ext cx="3337560" cy="178308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325880"/>
            <a:ext cx="73152" cy="1783080"/>
          </a:xfrm>
          <a:prstGeom prst="rect">
            <a:avLst/>
          </a:prstGeom>
          <a:solidFill>
            <a:srgbClr val="DE8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47218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03  傷口／皮膚影像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856231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323A"/>
                </a:solidFill>
                <a:latin typeface="Aptos"/>
              </a:rPr>
              <a:t>品質檢查＋量測＋前後趨勢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474720"/>
            <a:ext cx="3337560" cy="178308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474720"/>
            <a:ext cx="73152" cy="1783080"/>
          </a:xfrm>
          <a:prstGeom prst="rect">
            <a:avLst/>
          </a:prstGeom>
          <a:solidFill>
            <a:srgbClr val="49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62102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04  GenAI 照護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005072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323A"/>
                </a:solidFill>
                <a:latin typeface="Aptos"/>
              </a:rPr>
              <a:t>摘要、SOAP、交班、衛教、待辦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474720"/>
            <a:ext cx="3337560" cy="178308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474720"/>
            <a:ext cx="73152" cy="1783080"/>
          </a:xfrm>
          <a:prstGeom prst="rect">
            <a:avLst/>
          </a:prstGeom>
          <a:solidFill>
            <a:srgbClr val="48A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62102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05  家屬 AI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4005072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323A"/>
                </a:solidFill>
                <a:latin typeface="Aptos"/>
              </a:rPr>
              <a:t>提醒、追問、結構化回報、升級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6E76"/>
                </a:solidFill>
                <a:latin typeface="Aptos"/>
              </a:rPr>
              <a:t>AI × Hospital at Home | Howard Liao Ph.D.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46E7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2B46"/>
                </a:solidFill>
                <a:latin typeface="Aptos"/>
              </a:rPr>
              <a:t>05｜場景一：遠距生理監測與早期預警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6E76"/>
                </a:solidFill>
                <a:latin typeface="Aptos"/>
              </a:rPr>
              <a:t>不要只問「有沒有超標」，要問「是否偏離這個人的正常狀態」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74720" cy="402336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4023360"/>
          </a:xfrm>
          <a:prstGeom prst="rect">
            <a:avLst/>
          </a:prstGeom>
          <a:solidFill>
            <a:srgbClr val="2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2646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32B46"/>
                </a:solidFill>
                <a:latin typeface="Aptos"/>
              </a:rPr>
              <a:t>個人化基線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8323A"/>
                </a:solidFill>
                <a:latin typeface="Aptos"/>
              </a:rPr>
              <a:t>例如 COPD 病人長期 95% 的血氧，若持續降到 91%，同時呼吸頻率上升，其臨床意義可能遠高於單一固定閾值。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402336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73152" cy="4023360"/>
          </a:xfrm>
          <a:prstGeom prst="rect">
            <a:avLst/>
          </a:prstGeom>
          <a:solidFill>
            <a:srgbClr val="2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2646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32B46"/>
                </a:solidFill>
                <a:latin typeface="Aptos"/>
              </a:rPr>
              <a:t>多訊號融合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8323A"/>
                </a:solidFill>
                <a:latin typeface="Aptos"/>
              </a:rPr>
              <a:t>血氧下降
＋夜間心率上升
＋體重增加
＋活動量下降
→ 形成可解釋的風險訊號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474720" cy="402336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73152" cy="4023360"/>
          </a:xfrm>
          <a:prstGeom prst="rect">
            <a:avLst/>
          </a:prstGeom>
          <a:solidFill>
            <a:srgbClr val="49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2646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32B46"/>
                </a:solidFill>
                <a:latin typeface="Aptos"/>
              </a:rPr>
              <a:t>臨床行動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10512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8323A"/>
                </a:solidFill>
                <a:latin typeface="Aptos"/>
              </a:rPr>
              <a:t>紅／黃／綠分級
→ 護理師電話
→ 視訊
→ 居家訪視
→ 醫師評估／急診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6E76"/>
                </a:solidFill>
                <a:latin typeface="Aptos"/>
              </a:rPr>
              <a:t>AI × Hospital at Home | Howard Liao Ph.D.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46E7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2B46"/>
                </a:solidFill>
                <a:latin typeface="Aptos"/>
              </a:rPr>
              <a:t>06｜場景二：AI 分流與再住院風險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6E76"/>
                </a:solidFill>
                <a:latin typeface="Aptos"/>
              </a:rPr>
              <a:t>風險分數不是答案；「風險＋驅動因子＋建議動作＋證據」才是臨床可用輸出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2743200" cy="425196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4251960"/>
          </a:xfrm>
          <a:prstGeom prst="rect">
            <a:avLst/>
          </a:prstGeom>
          <a:solidFill>
            <a:srgbClr val="2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26463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2B46"/>
                </a:solidFill>
                <a:latin typeface="Aptos"/>
              </a:rPr>
              <a:t>輸入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23774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323A"/>
                </a:solidFill>
                <a:latin typeface="Aptos"/>
              </a:rPr>
              <a:t>• 生命徵象趨勢
• 共病／衰弱
• 急診／住院史
• 用藥變更
• 傷口／感染／疼痛
• 營養／吞嚥
• 照顧能力與可近性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80160"/>
            <a:ext cx="2743200" cy="425196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280160"/>
            <a:ext cx="73152" cy="4251960"/>
          </a:xfrm>
          <a:prstGeom prst="rect">
            <a:avLst/>
          </a:prstGeom>
          <a:solidFill>
            <a:srgbClr val="2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1426463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2B46"/>
                </a:solidFill>
                <a:latin typeface="Aptos"/>
              </a:rPr>
              <a:t>輸出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1810512"/>
            <a:ext cx="23774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323A"/>
                </a:solidFill>
                <a:latin typeface="Aptos"/>
              </a:rPr>
              <a:t>風險：低／中／高
驅動因子：
血氧下滑、食慾下降、利尿劑調整後體重仍上升
建議：
2 小時內電話評估／今日視訊／醫師評估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280160"/>
            <a:ext cx="2743200" cy="425196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280160"/>
            <a:ext cx="73152" cy="4251960"/>
          </a:xfrm>
          <a:prstGeom prst="rect">
            <a:avLst/>
          </a:prstGeom>
          <a:solidFill>
            <a:srgbClr val="DE8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1426463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2B46"/>
                </a:solidFill>
                <a:latin typeface="Aptos"/>
              </a:rPr>
              <a:t>治理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1810512"/>
            <a:ext cx="23774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323A"/>
                </a:solidFill>
                <a:latin typeface="Aptos"/>
              </a:rPr>
              <a:t>• 顯示資料來源與時間
• 模型版本可追蹤
• 人工覆核
• 最終處置留痕
• 不以黑盒風險分數取代專業判斷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280160"/>
            <a:ext cx="2011680" cy="425196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55480" y="1280160"/>
            <a:ext cx="73152" cy="4251960"/>
          </a:xfrm>
          <a:prstGeom prst="rect">
            <a:avLst/>
          </a:prstGeom>
          <a:solidFill>
            <a:srgbClr val="49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6648" y="142646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2B46"/>
                </a:solidFill>
                <a:latin typeface="Aptos"/>
              </a:rPr>
              <a:t>原則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1810512"/>
            <a:ext cx="16459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8323A"/>
                </a:solidFill>
                <a:latin typeface="Aptos"/>
              </a:rPr>
              <a:t>Human-in-the-loop
AI 提醒人
人決定怎麼做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6E76"/>
                </a:solidFill>
                <a:latin typeface="Aptos"/>
              </a:rPr>
              <a:t>AI × Hospital at Home | Howard Liao Ph.D.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46E7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2B46"/>
                </a:solidFill>
                <a:latin typeface="Aptos"/>
              </a:rPr>
              <a:t>07｜場景三：GenAI，近期最容易產生 ROI 的地方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6E76"/>
                </a:solidFill>
                <a:latin typeface="Aptos"/>
              </a:rPr>
              <a:t>先從 Copilot 開始，而不是一開始就讓 AI 自動診斷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166360" cy="114300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143000"/>
          </a:xfrm>
          <a:prstGeom prst="rect">
            <a:avLst/>
          </a:prstGeom>
          <a:solidFill>
            <a:srgbClr val="2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80744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訪視語音 → SOAP／護理紀錄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23A"/>
                </a:solidFill>
                <a:latin typeface="Aptos"/>
              </a:rPr>
              <a:t>減少重複文書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166360" cy="114300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73152" cy="1143000"/>
          </a:xfrm>
          <a:prstGeom prst="rect">
            <a:avLst/>
          </a:prstGeom>
          <a:solidFill>
            <a:srgbClr val="2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380744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今日個案摘要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1764792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23A"/>
                </a:solidFill>
                <a:latin typeface="Aptos"/>
              </a:rPr>
              <a:t>整合病歷、檢驗、用藥、近 7 日生命徵象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51760"/>
            <a:ext cx="5166360" cy="114300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51760"/>
            <a:ext cx="73152" cy="1143000"/>
          </a:xfrm>
          <a:prstGeom prst="rect">
            <a:avLst/>
          </a:prstGeom>
          <a:solidFill>
            <a:srgbClr val="49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798064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交班與待辦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182112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23A"/>
                </a:solidFill>
                <a:latin typeface="Aptos"/>
              </a:rPr>
              <a:t>自動整理跨班重點與未完成事項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651760"/>
            <a:ext cx="5166360" cy="114300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651760"/>
            <a:ext cx="73152" cy="1143000"/>
          </a:xfrm>
          <a:prstGeom prst="rect">
            <a:avLst/>
          </a:prstGeom>
          <a:solidFill>
            <a:srgbClr val="DE8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798064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病人衛教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182112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23A"/>
                </a:solidFill>
                <a:latin typeface="Aptos"/>
              </a:rPr>
              <a:t>轉成病人／家屬容易理解的語言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69080"/>
            <a:ext cx="5166360" cy="114300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069080"/>
            <a:ext cx="73152" cy="1143000"/>
          </a:xfrm>
          <a:prstGeom prst="rect">
            <a:avLst/>
          </a:prstGeom>
          <a:solidFill>
            <a:srgbClr val="48A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215384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電話追蹤清單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599432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23A"/>
                </a:solidFill>
                <a:latin typeface="Aptos"/>
              </a:rPr>
              <a:t>依個案狀況產生標準化追問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069080"/>
            <a:ext cx="5166360" cy="114300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069080"/>
            <a:ext cx="73152" cy="114300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4215384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訪視排程輔助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4599432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23A"/>
                </a:solidFill>
                <a:latin typeface="Aptos"/>
              </a:rPr>
              <a:t>AI 排序；個管師依病情與服務承諾確認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4B4B"/>
                </a:solidFill>
                <a:latin typeface="Aptos"/>
              </a:rPr>
              <a:t>所有 AI 草稿 → 專業人員審閱／修正／簽核 → 才能進入正式紀錄或發送病人。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6E76"/>
                </a:solidFill>
                <a:latin typeface="Aptos"/>
              </a:rPr>
              <a:t>AI × Hospital at Home | Howard Liao Ph.D.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46E7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2B46"/>
                </a:solidFill>
                <a:latin typeface="Aptos"/>
              </a:rPr>
              <a:t>08｜場景四：家屬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6E76"/>
                </a:solidFill>
                <a:latin typeface="Aptos"/>
              </a:rPr>
              <a:t>不是「醫療聊天機器人」，而是有邊界的數位照護協作者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383280" cy="429768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4297680"/>
          </a:xfrm>
          <a:prstGeom prst="rect">
            <a:avLst/>
          </a:prstGeom>
          <a:solidFill>
            <a:srgbClr val="2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807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2B46"/>
                </a:solidFill>
                <a:latin typeface="Aptos"/>
              </a:rPr>
              <a:t>可以做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323A"/>
                </a:solidFill>
                <a:latin typeface="Aptos"/>
              </a:rPr>
              <a:t>提醒藥物／量測／回診
語音／多語操作引導
依核准照護計畫回答 FAQ
主動詢問喘、胸痛、跌倒等症狀
把自由文字／語音轉結構化紀錄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383280" cy="429768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73152" cy="429768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3807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2B46"/>
                </a:solidFill>
                <a:latin typeface="Aptos"/>
              </a:rPr>
              <a:t>不應做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764792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323A"/>
                </a:solidFill>
                <a:latin typeface="Aptos"/>
              </a:rPr>
              <a:t>自行診斷
自行調整處方
自行判定「不用就醫」
在高風險情境給出模糊安撫
取代值班醫護的最終判斷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383280" cy="429768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73152" cy="4297680"/>
          </a:xfrm>
          <a:prstGeom prst="rect">
            <a:avLst/>
          </a:prstGeom>
          <a:solidFill>
            <a:srgbClr val="49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3807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2B46"/>
                </a:solidFill>
                <a:latin typeface="Aptos"/>
              </a:rPr>
              <a:t>高風險升級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764792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323A"/>
                </a:solidFill>
                <a:latin typeface="Aptos"/>
              </a:rPr>
              <a:t>例如：
「今天比昨天更喘、躺下會咳、腳也腫」
Agent → 追問血氧／體重／胸痛／意識
→ 觸發升級
→ 值班護理師／醫師介入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6E76"/>
                </a:solidFill>
                <a:latin typeface="Aptos"/>
              </a:rPr>
              <a:t>AI × Hospital at Home | Howard Liao Ph.D.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46E7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2B46"/>
                </a:solidFill>
                <a:latin typeface="Aptos"/>
              </a:rPr>
              <a:t>09｜落地藍圖：先工作流，後模型；先閉環，後規模化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474720" cy="429768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73152" cy="4297680"/>
          </a:xfrm>
          <a:prstGeom prst="rect">
            <a:avLst/>
          </a:prstGeom>
          <a:solidFill>
            <a:srgbClr val="2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636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32B46"/>
                </a:solidFill>
                <a:latin typeface="Aptos"/>
              </a:rPr>
              <a:t>Phase 1｜0–90 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47672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323A"/>
                </a:solidFill>
                <a:latin typeface="Aptos"/>
              </a:rPr>
              <a:t>單病種 MVP
一個族群＋一個臨床問題
紅黃綠警示＋SLA
少量高可靠設備
Dashboard
AI 摘要＋風險排序
建立 baseline KPI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74720" cy="429768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4297680"/>
          </a:xfrm>
          <a:prstGeom prst="rect">
            <a:avLst/>
          </a:prstGeom>
          <a:solidFill>
            <a:srgbClr val="2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5636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32B46"/>
                </a:solidFill>
                <a:latin typeface="Aptos"/>
              </a:rPr>
              <a:t>Phase 2｜3–9 個月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47672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323A"/>
                </a:solidFill>
                <a:latin typeface="Aptos"/>
              </a:rPr>
              <a:t>平台化擴展
EMR/HIS／FHIR
多病種個人化預警
Multimodal AI
24×7 告警中心
事件升級機制
臨床結果連結模型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474720" cy="429768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417320"/>
            <a:ext cx="73152" cy="4297680"/>
          </a:xfrm>
          <a:prstGeom prst="rect">
            <a:avLst/>
          </a:prstGeom>
          <a:solidFill>
            <a:srgbClr val="49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5636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32B46"/>
                </a:solidFill>
                <a:latin typeface="Aptos"/>
              </a:rPr>
              <a:t>Phase 3｜9–18 個月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947672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323A"/>
                </a:solidFill>
                <a:latin typeface="Aptos"/>
              </a:rPr>
              <a:t>制度化
醫院—診所—居護—長照—藥局共照網
多角色 Agent
病種模板
模型／資料治理
支付模式整合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6E76"/>
                </a:solidFill>
                <a:latin typeface="Aptos"/>
              </a:rPr>
              <a:t>AI × Hospital at Home | Howard Liao Ph.D.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46E7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2B46"/>
                </a:solidFill>
                <a:latin typeface="Aptos"/>
              </a:rPr>
              <a:t>10｜Target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6E76"/>
                </a:solidFill>
                <a:latin typeface="Aptos"/>
              </a:rPr>
              <a:t>裝置 → 資料平台 → AI → 臨床工作流 → 治理，形成可稽核閉環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11680" cy="246888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73152" cy="2468880"/>
          </a:xfrm>
          <a:prstGeom prst="rect">
            <a:avLst/>
          </a:prstGeom>
          <a:solidFill>
            <a:srgbClr val="48A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9751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居家端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5915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BP／SpO₂／ECG／血糖／體重／影像／語音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6E76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828800"/>
            <a:ext cx="2011680" cy="246888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39" y="1828800"/>
            <a:ext cx="73152" cy="2468880"/>
          </a:xfrm>
          <a:prstGeom prst="rect">
            <a:avLst/>
          </a:prstGeom>
          <a:solidFill>
            <a:srgbClr val="2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9751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資料與互通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35915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FHIR／API／EMR／HIS／Identity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6E76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828800"/>
            <a:ext cx="2011680" cy="246888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59" y="1828800"/>
            <a:ext cx="73152" cy="2468880"/>
          </a:xfrm>
          <a:prstGeom prst="rect">
            <a:avLst/>
          </a:prstGeom>
          <a:solidFill>
            <a:srgbClr val="2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7" y="19751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AI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7" y="235915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異常偵測／預測／CV／LLM／Agent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6E76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828800"/>
            <a:ext cx="2011680" cy="246888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28800"/>
            <a:ext cx="73152" cy="2468880"/>
          </a:xfrm>
          <a:prstGeom prst="rect">
            <a:avLst/>
          </a:prstGeom>
          <a:solidFill>
            <a:srgbClr val="49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19751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Clinical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35915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Dashboard／SLA／派工／視訊／訪視／轉診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6E76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828800"/>
            <a:ext cx="2011680" cy="2468880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29800" y="1828800"/>
            <a:ext cx="73152" cy="2468880"/>
          </a:xfrm>
          <a:prstGeom prst="rect">
            <a:avLst/>
          </a:prstGeom>
          <a:solidFill>
            <a:srgbClr val="DE8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0968" y="19751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0968" y="235915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ISO 27001／ISO 42001／NIST AI RMF／Audit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920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32B46"/>
                </a:solidFill>
                <a:latin typeface="Aptos"/>
              </a:rPr>
              <a:t>關鍵：每一次 AI 輸出，都必須能回到「資料來源 → 模型版本 → 人工覆核 → 最終處置 → 結果」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6E76"/>
                </a:solidFill>
                <a:latin typeface="Aptos"/>
              </a:rPr>
              <a:t>AI × Hospital at Home | Howard Liao Ph.D.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46E7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2B46"/>
                </a:solidFill>
                <a:latin typeface="Aptos"/>
              </a:rPr>
              <a:t>11｜KPI：不要只看 AI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6E76"/>
                </a:solidFill>
                <a:latin typeface="Aptos"/>
              </a:rPr>
              <a:t>真正的成功，是高風險個案更早被正確處置，同時降低人工作業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474720" cy="1874519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73152" cy="1874519"/>
          </a:xfrm>
          <a:prstGeom prst="rect">
            <a:avLst/>
          </a:prstGeom>
          <a:solidFill>
            <a:srgbClr val="2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3807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臨床品質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764792"/>
            <a:ext cx="31089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30 日再住院率、非計畫急診率、平均住院日、跌倒、壓傷、感染升級率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74720" cy="1874519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73152" cy="1874519"/>
          </a:xfrm>
          <a:prstGeom prst="rect">
            <a:avLst/>
          </a:prstGeom>
          <a:solidFill>
            <a:srgbClr val="2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3807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即時性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764792"/>
            <a:ext cx="31089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異常→人工覆核時間、警示→首次聯繫時間、紅色 SLA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234440"/>
            <a:ext cx="3474720" cy="1874519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234440"/>
            <a:ext cx="73152" cy="1874519"/>
          </a:xfrm>
          <a:prstGeom prst="rect">
            <a:avLst/>
          </a:prstGeom>
          <a:solidFill>
            <a:srgbClr val="49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3807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照護效率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764792"/>
            <a:ext cx="31089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每位護理師管理個案數、每案文書時間、無效警示率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74720"/>
            <a:ext cx="3474720" cy="1874519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474720"/>
            <a:ext cx="73152" cy="1874519"/>
          </a:xfrm>
          <a:prstGeom prst="rect">
            <a:avLst/>
          </a:prstGeom>
          <a:solidFill>
            <a:srgbClr val="48A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6210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病人／家屬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005072"/>
            <a:ext cx="31089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滿意度、照顧者負荷、居家療養天數、回報依從性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74720"/>
            <a:ext cx="3474720" cy="1874519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474720"/>
            <a:ext cx="73152" cy="1874519"/>
          </a:xfrm>
          <a:prstGeom prst="rect">
            <a:avLst/>
          </a:prstGeom>
          <a:solidFill>
            <a:srgbClr val="DE8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6210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財務／價值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005072"/>
            <a:ext cx="31089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單案成本、避免住院／急診成本、設備使用率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474720"/>
            <a:ext cx="3474720" cy="1874519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474720"/>
            <a:ext cx="73152" cy="1874519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6488" y="36210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B46"/>
                </a:solidFill>
                <a:latin typeface="Aptos"/>
              </a:rPr>
              <a:t>AI 治理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005072"/>
            <a:ext cx="31089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8323A"/>
                </a:solidFill>
                <a:latin typeface="Aptos"/>
              </a:rPr>
              <a:t>模型漂移、偏差、人工覆核率、錯誤建議率、資安事件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6E76"/>
                </a:solidFill>
                <a:latin typeface="Aptos"/>
              </a:rPr>
              <a:t>AI × Hospital at Home | Howard Liao Ph.D.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46E7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2B46"/>
                </a:solidFill>
                <a:latin typeface="Aptos"/>
              </a:rPr>
              <a:t>12｜資安與 AI 治理：高風險系統要預設安全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166360" cy="1298448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73152" cy="1298448"/>
          </a:xfrm>
          <a:prstGeom prst="rect">
            <a:avLst/>
          </a:prstGeom>
          <a:solidFill>
            <a:srgbClr val="2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289304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32B46"/>
                </a:solidFill>
                <a:latin typeface="Aptos"/>
              </a:rPr>
              <a:t>資料最小化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673352"/>
            <a:ext cx="4800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23A"/>
                </a:solidFill>
                <a:latin typeface="Aptos"/>
              </a:rPr>
              <a:t>只蒐集與照護目的直接相關資料；居家影像優先考慮 Edge／毫米波／非辨識性資料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43000"/>
            <a:ext cx="5166360" cy="1298448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143000"/>
            <a:ext cx="73152" cy="1298448"/>
          </a:xfrm>
          <a:prstGeom prst="rect">
            <a:avLst/>
          </a:prstGeom>
          <a:solidFill>
            <a:srgbClr val="2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289304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32B46"/>
                </a:solidFill>
                <a:latin typeface="Aptos"/>
              </a:rPr>
              <a:t>同意與可撤回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1673352"/>
            <a:ext cx="4800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23A"/>
                </a:solidFill>
                <a:latin typeface="Aptos"/>
              </a:rPr>
              <a:t>用途、保存期間、存取對象、模型訓練用途與撤回機制透明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15768"/>
            <a:ext cx="5166360" cy="1298448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715768"/>
            <a:ext cx="73152" cy="1298448"/>
          </a:xfrm>
          <a:prstGeom prst="rect">
            <a:avLst/>
          </a:prstGeom>
          <a:solidFill>
            <a:srgbClr val="49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8620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32B46"/>
                </a:solidFill>
                <a:latin typeface="Aptos"/>
              </a:rPr>
              <a:t>端到端資安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246120"/>
            <a:ext cx="4800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23A"/>
                </a:solidFill>
                <a:latin typeface="Aptos"/>
              </a:rPr>
              <a:t>裝置身分、加密、MDM、韌體、Zero Trust、API Security、資產盤點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715768"/>
            <a:ext cx="5166360" cy="1298448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715768"/>
            <a:ext cx="73152" cy="1298448"/>
          </a:xfrm>
          <a:prstGeom prst="rect">
            <a:avLst/>
          </a:prstGeom>
          <a:solidFill>
            <a:srgbClr val="DE8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8620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32B46"/>
                </a:solidFill>
                <a:latin typeface="Aptos"/>
              </a:rPr>
              <a:t>第三方風險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246120"/>
            <a:ext cx="4800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23A"/>
                </a:solidFill>
                <a:latin typeface="Aptos"/>
              </a:rPr>
              <a:t>供應商責任分界、DPA、SBOM、弱點修補 SLA、模型／資料使用聲明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288536"/>
            <a:ext cx="5166360" cy="1298448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288536"/>
            <a:ext cx="73152" cy="1298448"/>
          </a:xfrm>
          <a:prstGeom prst="rect">
            <a:avLst/>
          </a:prstGeom>
          <a:solidFill>
            <a:srgbClr val="48A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43484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32B46"/>
                </a:solidFill>
                <a:latin typeface="Aptos"/>
              </a:rPr>
              <a:t>可監測／可稽核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818888"/>
            <a:ext cx="4800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23A"/>
                </a:solidFill>
                <a:latin typeface="Aptos"/>
              </a:rPr>
              <a:t>模型版本、資料來源、輸出、人工覆核、最終處置、偏差與漂移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288536"/>
            <a:ext cx="5166360" cy="1298448"/>
          </a:xfrm>
          <a:prstGeom prst="roundRect">
            <a:avLst/>
          </a:prstGeom>
          <a:solidFill>
            <a:srgbClr val="F4F8FA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4288536"/>
            <a:ext cx="73152" cy="1298448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443484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32B46"/>
                </a:solidFill>
                <a:latin typeface="Aptos"/>
              </a:rPr>
              <a:t>失效安全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818888"/>
            <a:ext cx="4800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23A"/>
                </a:solidFill>
                <a:latin typeface="Aptos"/>
              </a:rPr>
              <a:t>網路／裝置／模型故障時回到人工電話、離線 SOP、緊急聯絡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2B46"/>
                </a:solidFill>
                <a:latin typeface="Aptos"/>
              </a:rPr>
              <a:t>治理底座：ISO 27001 × ISO 42001 × NIST AI RMF × Privacy by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6E76"/>
                </a:solidFill>
                <a:latin typeface="Aptos"/>
              </a:rPr>
              <a:t>AI × Hospital at Home | Howard Liao Ph.D.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46E7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13｜給決策者的五個優先順序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01 先把資料與照護閉環做對：量測 → 警示 → 覆核 → 處置 → 回寫。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02 先投資高頻、可量化、高風險場景：心衰竭、COPD、傷口、術後、安寧、高齡衰弱。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03 先用 Copilot 提升醫護產能，再逐步導入預測模型與 Agent。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04 FHIR、身分驗證、資料治理與 AI 治理，是核心基礎設施，不是事後補強。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709160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05 ROI 以「避免一次再住院／急診、縮短處置時間、降低每案人工作業」衡量。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BEDCEB"/>
                </a:solidFill>
                <a:latin typeface="Aptos"/>
              </a:rPr>
              <a:t>AI 不替醫師做決定；AI 讓醫療團隊更早看見、更加精準地行動。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2910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Howard Liao Ph.D.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2B46"/>
                </a:solidFill>
                <a:latin typeface="Aptos"/>
              </a:rPr>
              <a:t>14｜參考來源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6E76"/>
                </a:solidFill>
                <a:latin typeface="Aptos"/>
              </a:rPr>
              <a:t>本簡報內容依使用者提供之資料整理；正式對外簡報前建議再次核對政策與案例最新版本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28323A"/>
                </a:solidFill>
                <a:latin typeface="Aptos"/>
              </a:defRPr>
            </a:pPr>
            <a:r>
              <a:t>• [1] 行政院｜在宅醫療科技願景與行動｜ey.gov.tw</a:t>
            </a:r>
          </a:p>
          <a:p>
            <a:pPr>
              <a:spcAft>
                <a:spcPts val="800"/>
              </a:spcAft>
              <a:defRPr sz="1150">
                <a:solidFill>
                  <a:srgbClr val="28323A"/>
                </a:solidFill>
                <a:latin typeface="Aptos"/>
              </a:defRPr>
            </a:pPr>
            <a:r>
              <a:t>• [2] CIO Taiwan｜2026 年智慧醫療趨勢：從生成式 AI 到制度化治理</a:t>
            </a:r>
          </a:p>
          <a:p>
            <a:pPr>
              <a:spcAft>
                <a:spcPts val="800"/>
              </a:spcAft>
              <a:defRPr sz="1150">
                <a:solidFill>
                  <a:srgbClr val="28323A"/>
                </a:solidFill>
                <a:latin typeface="Aptos"/>
              </a:defRPr>
            </a:pPr>
            <a:r>
              <a:t>• [3] 安可醫療｜從醫院到客廳：AI 如何重塑在宅照護新模式</a:t>
            </a:r>
          </a:p>
          <a:p>
            <a:pPr>
              <a:spcAft>
                <a:spcPts val="800"/>
              </a:spcAft>
              <a:defRPr sz="1150">
                <a:solidFill>
                  <a:srgbClr val="28323A"/>
                </a:solidFill>
                <a:latin typeface="Aptos"/>
              </a:defRPr>
            </a:pPr>
            <a:r>
              <a:t>• [4] 安可醫療｜在宅醫療的智慧轉向：以科技賦能社區照護</a:t>
            </a:r>
          </a:p>
          <a:p>
            <a:pPr>
              <a:spcAft>
                <a:spcPts val="800"/>
              </a:spcAft>
              <a:defRPr sz="1150">
                <a:solidFill>
                  <a:srgbClr val="28323A"/>
                </a:solidFill>
                <a:latin typeface="Aptos"/>
              </a:defRPr>
            </a:pPr>
            <a:r>
              <a:t>• [5] 成大醫院智慧醫院｜無牆化的遠距醫療照護新模式：智慧安寧遠距照護</a:t>
            </a:r>
          </a:p>
          <a:p>
            <a:pPr>
              <a:spcAft>
                <a:spcPts val="800"/>
              </a:spcAft>
              <a:defRPr sz="1150">
                <a:solidFill>
                  <a:srgbClr val="28323A"/>
                </a:solidFill>
                <a:latin typeface="Aptos"/>
              </a:defRPr>
            </a:pPr>
            <a:r>
              <a:t>• [6] 高醫／HST｜手機影像 AI 傷口辨識與在宅照護應用</a:t>
            </a:r>
          </a:p>
          <a:p>
            <a:pPr>
              <a:spcAft>
                <a:spcPts val="800"/>
              </a:spcAft>
              <a:defRPr sz="1150">
                <a:solidFill>
                  <a:srgbClr val="28323A"/>
                </a:solidFill>
                <a:latin typeface="Aptos"/>
              </a:defRPr>
            </a:pPr>
            <a:r>
              <a:t>• [7] 臺北醫學大學 AI 醫療暨健康科技中心｜從 MEDICA 到 CES：在宅醫療、穿戴式數據與物理 AI</a:t>
            </a:r>
          </a:p>
          <a:p>
            <a:pPr>
              <a:spcAft>
                <a:spcPts val="800"/>
              </a:spcAft>
              <a:defRPr sz="1150">
                <a:solidFill>
                  <a:srgbClr val="28323A"/>
                </a:solidFill>
                <a:latin typeface="Aptos"/>
              </a:defRPr>
            </a:pPr>
            <a:r>
              <a:t>• [8] 日本厚生勞動省｜慢性期・在宅医療での AI 活用について</a:t>
            </a:r>
          </a:p>
          <a:p>
            <a:pPr>
              <a:spcAft>
                <a:spcPts val="800"/>
              </a:spcAft>
              <a:defRPr sz="1150">
                <a:solidFill>
                  <a:srgbClr val="28323A"/>
                </a:solidFill>
                <a:latin typeface="Aptos"/>
              </a:defRPr>
            </a:pPr>
            <a:r>
              <a:t>• [9] FIND｜在宅醫療新革命：AI 如何讓診所走進家庭客廳？</a:t>
            </a:r>
          </a:p>
          <a:p>
            <a:pPr>
              <a:spcAft>
                <a:spcPts val="800"/>
              </a:spcAft>
              <a:defRPr sz="1150">
                <a:solidFill>
                  <a:srgbClr val="28323A"/>
                </a:solidFill>
                <a:latin typeface="Aptos"/>
              </a:defRPr>
            </a:pPr>
            <a:r>
              <a:t>• [10] 數位時代｜從減負到在宅：北台灣醫界領袖共論 AI 醫療落地藍圖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6E76"/>
                </a:solidFill>
                <a:latin typeface="Aptos"/>
              </a:rPr>
              <a:t>AI × Hospital at Home | Howard Liao Ph.D.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46E7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