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本簡報聚焦 AI 在在宅醫療（Hospital at Home, HaH）的核心戰略定位。AI 不是取代醫護，而是將碎片化居家訊號轉化為高可靠臨床閉環，減輕行政負擔並降低再住院率。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真正的挑戰不是沒有資料，而是資料無法採取行動。AI 扮演資訊轉化與協作中樞，解決醫護人力與家庭端照護落差。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四層架構由下而上：感知層確保訊號真實；判讀層識別臨床趨勢；決策層提供可解釋性 CDS 分流；協作層透過 GenAI 降低行政摩擦，底層全部以 HL7 FHIR 貫通。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強調個人化基線對比固定閾值的臨床意義，成大醫院智慧安寧為台灣在宅結合多感測與 AI 預警的代表案例。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分流的核心是資源最佳化，每天早晨協助個管師排出訪視與聯絡清單，並保持輸出透明可解釋。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CV 影像在居家壓傷與糖尿病足追蹤帶來顯著效益，但必須定位為遠距輔助工具，需護理人員最終覆核。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GenAI 近期最高的 ROI 是減輕醫護文書負擔，讓醫護回歸病人關懷，並堅守 Human-in-the-loop 原則。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家屬端的 AI Agent 必須具備清晰安全邊界，偵測危險關鍵字即刻啟動醫療升級，絕不下非核准的診斷指令。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落實三階段藍圖：90天MVP建立閉環 -&gt; 3-9個月擴展FHIR與多模態 -&gt; 9-18個月融入區域共照網與健保支付體系。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不可僅以模型準確率為 KPI，必須結合臨床品質、運營效率、病人體驗、財務節省與治理指標五維綜合評估。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在宅醫療為高度敏感場域，導入 AI 預設應為高風險系統，遵循 ISO 27001、ISO 42001 與 NIST AI RMF，建立韌性防護。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決策者投資總結：端到端閉環、高風險病種優先、Copilot減負先行、FHIR標準互通、臨床價值導向ROI。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411480"/>
          </a:xfrm>
          <a:prstGeom prst="roundRect">
            <a:avLst/>
          </a:prstGeom>
          <a:solidFill>
            <a:srgbClr val="17203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2026 智慧醫療與在宅急症照護戰略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AI 在在宅醫療 (Hospital at Home)</a:t>
            </a:r>
            <a:br/>
            <a:r>
              <a:t>最有價值的角色與落地全景</a:t>
            </a:r>
          </a:p>
          <a:p>
            <a:pPr>
              <a:spcBef>
                <a:spcPts val="1400"/>
              </a:spcBef>
              <a:defRPr sz="1600">
                <a:solidFill>
                  <a:srgbClr val="10B981"/>
                </a:solidFill>
                <a:latin typeface="Microsoft JhengHei"/>
              </a:defRPr>
            </a:pPr>
            <a:r>
              <a:t>把居家端零碎、低頻、難以判讀的資訊，轉化為「可預警、可分流、可協作、可追蹤」的臨床照護閉環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可預警 Early Warning</a:t>
            </a:r>
          </a:p>
          <a:p>
            <a:pPr algn="ctr">
              <a:spcBef>
                <a:spcPts val="10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個人化基線趨勢異常偵測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4114800"/>
            <a:ext cx="256032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可分流 Smart Triage</a:t>
            </a:r>
          </a:p>
          <a:p>
            <a:pPr algn="ctr">
              <a:spcBef>
                <a:spcPts val="10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CDS 優先級排序與再住院預測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4114800"/>
            <a:ext cx="256032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  <a:latin typeface="Microsoft JhengHei"/>
              </a:defRPr>
            </a:pPr>
            <a:r>
              <a:t>可協作 Seamless Collab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GenAI 輔助 SOAP 與跨團隊交班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4114800"/>
            <a:ext cx="256032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可追蹤 Auditable Trail</a:t>
            </a:r>
          </a:p>
          <a:p>
            <a:pPr algn="ctr">
              <a:spcBef>
                <a:spcPts val="10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FHIR 互通與端到端治理閉環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核心定位：不是取代醫護，而是構建臨床可行動閉環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[痛點洞察] 居家醫療的核心痛點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資料碎片化：居家端生理量測零碎、低頻、品質不一，缺乏結構化。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資訊孤島：設備與 App 各自獨立，數據無法直接進入醫護行動流程。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醫護量能吃緊：照護團隊有限，無法 24 小時人工監看每位個案數據。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轉銜斷點：出院返家後缺乏動態監控，易導致非計畫急診與再住院。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[核心價值] AI 賦能的三大核心目標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1. 病人更安全留在家中：及早識別微小病況惡化，阻斷急性惡化進程。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2. 降低非必要急診與再住院：減少急診待床壓力，優化健保與整體醫療資源利用。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3. 大幅減輕照護團隊行政負擔：自動化病歷、摘要與排程，提升每位護理師管理量能。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政策契機：台灣已全面推動『在宅急症照護試辦計畫』，並將 AI、遠距與 FHIR 資料標準納入健康台灣藍圖。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AI 應用全景：在宅醫療四層技術與臨床架構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協作層 (Collaboration)  ──  串連病人、家屬與跨專業團隊</a:t>
            </a:r>
          </a:p>
          <a:p>
            <a:pPr>
              <a:spcBef>
                <a:spcPts val="3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核心能力與場景：AI Copilot、語音轉 SOAP 紀錄、病歷摘要、跨班交接、客製衛教、任務派工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決策層 (Decision / CDS)  ──  協助醫護人員採取下一步行動</a:t>
            </a:r>
          </a:p>
          <a:p>
            <a:pPr>
              <a:spcBef>
                <a:spcPts val="3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核心能力與場景：Clinical Decision Support (CDS)、分流評估、電話追蹤/視訊看診/居家訪視/轉急診優先級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判讀層 (Interpretation)  ──  從多維資料找出異常與趨勢</a:t>
            </a:r>
          </a:p>
          <a:p>
            <a:pPr>
              <a:spcBef>
                <a:spcPts val="3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核心能力與場景：異常偵測、個人基線偏離、呼吸惡化、心衰竭體液滯留預警、壓傷與傷口影像辨識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感知層 (Perception)  ──  收集高品質居家健康訊號</a:t>
            </a:r>
          </a:p>
          <a:p>
            <a:pPr>
              <a:spcBef>
                <a:spcPts val="3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核心能力與場景：設備資料品質檢查、去雜訊、血壓/血氧/心率/血糖/體溫/體重/智慧床墊/跌倒偵測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場景 1：遠距生理監測與「個人化基線」早期預警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[臨床疾病模型] 個人化趨勢 vs 固定閾值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心衰竭 (HF)：連續數日體重上升 (+1.5~2kg)、夜間心率增快、血氧下滑 -&gt; 體液滯留預警。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COPD 呼吸道疾病：血氧趨勢下降、呼吸頻率異常、活動量驟減 -&gt; 提早啟動護理介入。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糖尿病 (DM)：結合連續血糖、飲食、服藥與活動模式 -&gt; 預測隱匿性低血糖與惡化風險。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高齡衰弱者：微型雷達/智慧床墊分析步態、起床頻率、如廁模式 -&gt; 跌倒與急性衰弱預警。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[落地典範] 關鍵設計原則與典範案例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個人基線 (Personal Baseline) 原則：長期 COPD 患者血氧 91% 未必需要急診；但若從長期 95% 持續下滑至 91% 且呼吸頻率飆升，具極高臨床危急意義。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成大醫院智慧安寧遠距照護：整合 ECG、血氧、體溫、智慧床墊與遠距視訊，透過 AI 預測照護期別（穩定期/不穩定期/臨終期），在宅善終比率達 83%。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無感監控融入日常：採用毫米波雷達與壓電床墊，解決高齡者配戴穿戴設備遵從度不佳痛點。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場景 2：AI 智慧分流與再住院風險透明化預測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[特徵工程] 多維臨床特徵輸入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生理趨勢：近 72h 生命徵象變異、異常警示次數與恢復速率。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共病與衰弱：Frailty Index、多重慢性病、過去急診與再住院頻次。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用藥風險：近期用藥變更、多重用藥 (Polypharmacy)、高警訊藥物 (如抗凝血劑、利尿劑)。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社會與環境：獨居狀態、家庭照護支持度、交通與就醫可近性。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症狀回報：病人與照顧者自述之吞嚥困難、食慾變化、疼痛評估。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[可解釋輸出] CDS 輸出四大可解釋要素 (拒絕黑盒子)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1. 風險等級 (Risk Tier)：綠 (常規)、黃 (中度密切)、紅 (高危急)。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2. 驅動因子 (Explainable Drivers)：如『48h 體重上升 1.8kg、利尿劑調整後血氧仍降』。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3. 建議處置動作 (Actionable CDS)：如『護理師 2h 內電話評估』、『安排今日視訊看診』、『建議轉急診』。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4. 可追溯證據鏈 (Audit Trail)：記錄推論依據、資料時間戳、醫護覆核與最終處置軌跡。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場景 3：傷口、皮膚與 Computer Vision 影像照護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[影像技術] Computer Vision 核心賦能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智慧拍攝指引：即時引導家屬調整距離、角度與補光，校正色差。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影像品質自動檢核：偵測晃動、模糊、陰影遮擋，即時提示重新拍攝。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精準形態量測：自動標註傷口長/寬/面積、深度估算與肉芽組織比例。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病灶特徵識別：辨識紅腫、滲液量、壞死組織 (Necrosis)、壓傷分期。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前後時序比對 (Time-series)：自動生成時序序列圖，視覺化呈現癒合軌跡。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[臨床守則] 高醫實踐經驗與臨床紅線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高醫手機在宅影像創新：運用智慧型手機鏡頭結合邊緣 AI 辨識模型，讓護理師或照顧者在居家端完成壓傷與糖尿病足分級分期。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非接觸式高頻追蹤：減少病患奔波醫院換藥與就醫負擔，及早發現深部組織損傷 (DTI) 或感染徵兆。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嚴守臨床紅線：本系統定位為『臨床輔助追蹤與遠端覆核工具』，嚴禁讓病患或家屬單憑 AI 判定自行處理而延誤醫療就診。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場景 4：生成式 AI (GenAI) 降低照護行政成本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[GenAI 應用] 高 ROI 的行政減負應用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訪視語音轉 SOAP 紀錄：將居家訪視對話自動轉錄並結構化為護理紀錄草稿。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個案日報自動彙整：整合過去 7 天生命徵象、用藥異動、檢驗數值，產出『今日摘要』。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跨專業交班摘要：自動產出護理師、醫師、社工、營養師之待辦與風險提示。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客製化多語衛教生成：將專業醫囑轉化為病患/家屬易懂之台語/印尼語/越語衛教單張。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智慧排程與路線規劃：結合地理位置、交通路況與個案風險優先級，輔助排定最佳訪視路線。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[核心原則] 人機協作 (Human-in-the-loop) 原則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嚴禁端到端全自動寫入：所有由 GenAI 產出的病歷初稿、摘要與處置建議，必須經過具執照醫護審閱、修改與電子簽核後方可生效。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醫療院所成熟實踐：如中山醫學大學附設醫院『醫點家』臨床摘要小幫手，有效縮減護理文書時長達 40% 以上。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政策支持：行政院『在宅醫療科技願景與行動』明確將 AI 減負列為提升個案轉銜效率之關鍵科技。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場景 5：家屬與外籍看護的 AI Agent 協作者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[Agent 職責] 有邊界的數位照護協作者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用藥與量測主動提醒：依個人化排程提醒服藥、量血壓/血糖，提升醫囑遵從性。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多語音互動引導：支援台語、英語、印尼語、越南語，指導外籍看護正確拍痰、翻身與管灌技巧。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合規衛教問答：基於醫療團隊核准之知識庫 (RAG)，回答居家日常護理問題，避免幻覺。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非結構化語言轉結構化症狀：將家屬隨口描述轉為臨床標準術語回傳系統。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[安全防線] 智慧升級防線 (Escalation Guardrail)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觸發情境範例：家屬告知『今天比昨天更喘、平躺會咳、雙腳水腫』。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錯誤做法：AI 自行下結論『可能是心衰竭惡化，請自行增加利尿劑』。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正確做法 (Guardrail 啟動)：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  1. 依臨床規則追問血氧、體溫、胸痛或意識狀態；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  2. 立即標記為【紅色警示】；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  3. 將完整對話與生理趨勢自動派工至 24/7 值班護理師與責任醫師進行緊急處置。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落地藍圖：先工作流後模型、先高風險閉環後規模化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Phase 1: 90 天 MVP 概念驗證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聚焦單一高風險族群 (如心衰竭出院30天、COPD急性惡化、壓傷傷口)。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建立量測、紅黃綠警示、聯繫、訪視、轉送及結案 SOP 與 SLA。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建置跨專業個案儀表板，導入 AI 摘要與風險排序 (人工覆核)。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建立基準數據，驗證臨床可行性與初步 ROI。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54480"/>
            <a:ext cx="3474720" cy="47548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Phase 2: 3~9 個月 系統擴展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採用 HL7 FHIR 標準串接醫院 EMR/HIS、檢驗、處方與照護紀錄。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擴大至多病種資料庫，建立個人化預警與 Multimodal 多模態 AI。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成立 24/7 監控中心，制定跨機構協作值班與緊急事件升級機制。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將 AI 評估指標由技術 AUC 轉為臨床 Outcomes (如 30日再住院率)。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54480"/>
            <a:ext cx="3474720" cy="47548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Phase 3: 9~18 個月 生態制度化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打造『醫院—診所—居護所—長照據點—社區藥局』區域共照網。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部署分角色 AI Agent (病患家屬、護理師、個管師、醫師、行政)。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整合健保在宅急症支付、商業保險、長照 3.0 與自費會員方案。</a:t>
            </a:r>
          </a:p>
          <a:p>
            <a:pPr>
              <a:spcBef>
                <a:spcPts val="800"/>
              </a:spcBef>
              <a:defRPr sz="1050">
                <a:solidFill>
                  <a:srgbClr val="E5E7EB"/>
                </a:solidFill>
                <a:latin typeface="Microsoft JhengHei"/>
              </a:defRPr>
            </a:pPr>
            <a:r>
              <a:t>• 建立病種模板標準化、ISO 42001 AI 模型治理與資料資安韌性。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成效評估：全方位五維 KPI 與價值衡量矩陣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168335"/>
              </a:tblGrid>
              <a:tr h="6792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Microsoft JhengHei"/>
                        </a:defRPr>
                      </a:pPr>
                      <a:r>
                        <a:t>衡量面向 (Dimension)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  <a:latin typeface="Microsoft JhengHei"/>
                        </a:defRPr>
                      </a:pPr>
                      <a:r>
                        <a:t>核心關鍵績效指標 (Suggested KPIs)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1. 臨床品質 (Clinical Quality)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Microsoft JhengHei"/>
                        </a:defRPr>
                      </a:pPr>
                      <a:r>
                        <a:t>30日再住院率降幅、非計畫急診就診率、平均在宅住院天數 (LOS)、壓傷惡化率、感染控制率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 即時性 (Operational Timeliness)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Microsoft JhengHei"/>
                        </a:defRPr>
                      </a:pPr>
                      <a:r>
                        <a:t>生理異常至人工覆核時長、黃色警示 2h 聯繫率、紅色緊急警示 SLA (&lt;15min) 達成率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3. 照護效率 (Staff Efficiency)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Microsoft JhengHei"/>
                        </a:defRPr>
                      </a:pPr>
                      <a:r>
                        <a:t>每位護理師可管理個案數提升 (1.5x~2x)、每案日常文書耗時減降 (&gt;30%)、無效告警過濾率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4. 病人與家屬體驗 (Experience)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Microsoft JhengHei"/>
                        </a:defRPr>
                      </a:pPr>
                      <a:r>
                        <a:t>病人與家庭照顧者滿意度 (&gt;90%)、照顧者壓力指數 (ZBI) 改善、居家生理數據主動回報率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5. 財務與價值 (Financial Value)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Microsoft JhengHei"/>
                        </a:defRPr>
                      </a:pPr>
                      <a:r>
                        <a:t>單案在宅照護成本 vs 傳統住院成本 (節省約 20%~30%)、健保點值效益、每避免一次急診之醫療淨節省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6. AI 治理與信任 (AI Governance)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Microsoft JhengHei"/>
                        </a:defRPr>
                      </a:pPr>
                      <a:r>
                        <a:t>模型漂移率 (Drift)、跨族群偏差監測、臨床人工覆核率 (100%)、資安與資料存取零違規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資安與 AI 治理：ISO 27001 / ISO 42001 / NIST AI RMF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[資安防護] 資料保護與端到端資安控制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資料最小化 (Data Minimization)：跌倒監測優先採用邊緣毫米波雷達/姿態骨架，預設禁止上傳臥室原始影像。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明確同意與撤回機制：清楚告知數據蒐集範疇、用途、保留年限，並提供家屬一鍵撤銷授權通道。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端到端零信任架構 (ZTA)：居家 IoT 裝置雙向憑證認證、AES-256 加密傳輸儲存、MDM 遠端管理。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第三方供應鏈風險 (SBOM)：要求 AI 與硬體供應商提供軟體物料清單、弱點修補 SLA 與隱私承諾。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Microsoft JhengHei"/>
              </a:defRPr>
            </a:pPr>
            <a:r>
              <a:t>[AI 治理] AI 臨床治理與應變機制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人類最終決策 (Human-in-the-Loop)：AI 僅為輔助，凡處方、診斷、急診轉送均須合格醫師審核簽章。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模型可監測性與偏差抑制：持續追蹤高齡、性別、病種資料分布偏移 (Drift)，確保公平無歧視。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全鏈路稽核軌跡 (Auditability)：完整留存原始訊號、模型版本、提示詞、醫護覆核人與處置紀錄。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• 緊急斷網失效回退 (Fail-Safe SOP)：網路中斷或雲端服務異常時，即刻無縫回退至傳統電話與紙本 SOP。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icrosoft JhengHei"/>
              </a:defRPr>
            </a:pPr>
            <a:r>
              <a:t>HOSPITAL AT HOME (HAH) ×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決策者結論：在宅醫療 AI 五大投資優先順序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1. 先把照護閉環做對</a:t>
            </a:r>
          </a:p>
          <a:p>
            <a:pPr>
              <a:spcBef>
                <a:spcPts val="2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量測 -&gt; 異常預警 -&gt; 醫護覆核 -&gt; 視訊/訪視 -&gt; 處置紀錄 -&gt; 成效追蹤，拒絕孤島式 App。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2. 先聚焦高頻高風險病種</a:t>
            </a:r>
          </a:p>
          <a:p>
            <a:pPr>
              <a:spcBef>
                <a:spcPts val="2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優先投入心衰竭、COPD、糖尿病足/壓傷、安寧緩和及高齡衰弱，產生快速臨床有感價值。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3. 先 Copilot 減負，後 Agent 協作</a:t>
            </a:r>
          </a:p>
          <a:p>
            <a:pPr>
              <a:spcBef>
                <a:spcPts val="2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首要以 GenAI 自動生成病歷與摘要釋放醫護產能，再逐步擴展至自主風險預警與家屬 Agent。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4. 奠定 FHIR 與資料治理基石</a:t>
            </a:r>
          </a:p>
          <a:p>
            <a:pPr>
              <a:spcBef>
                <a:spcPts val="2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將 HL7 FHIR 資料標準與零信任資安視為核心基礎建設，確保跨院與跨機構互通互聯。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icrosoft JhengHei"/>
              </a:defRPr>
            </a:pPr>
            <a:r>
              <a:t>5. 以避免再住院與處置時效為 ROI 主軸</a:t>
            </a:r>
          </a:p>
          <a:p>
            <a:pPr>
              <a:spcBef>
                <a:spcPts val="200"/>
              </a:spcBef>
              <a:defRPr sz="1100">
                <a:solidFill>
                  <a:srgbClr val="E5E7EB"/>
                </a:solidFill>
                <a:latin typeface="Microsoft JhengHei"/>
              </a:defRPr>
            </a:pPr>
            <a:r>
              <a:t>以『每避免一次再住院/急診成本、縮短處置時間、提升護理管理量能』衡量投報率，而非單看模型 Accuracy。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